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Collision Severity Model Enhancement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GLM Gamma Regression with Telematics Data</a:t>
            </a:r>
          </a:p>
          <a:p>
            <a:r>
              <a:t>2024 Model Update</a:t>
            </a:r>
          </a:p>
          <a:p>
            <a:r>
              <a:t>Presented to Model Risk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Enhanced GLM Gamma model for Collision claim severity prediction</a:t>
            </a:r>
          </a:p>
          <a:p>
            <a:pPr>
              <a:defRPr sz="1400"/>
            </a:pPr>
            <a:r>
              <a:t>NEW: Incorporates telematics data (hard braking, speeding, night driving)</a:t>
            </a:r>
          </a:p>
          <a:p>
            <a:pPr>
              <a:defRPr sz="1400"/>
            </a:pPr>
            <a:r>
              <a:t>Model Performance: R² 0.52, MAPE 24.3% on holdout test set</a:t>
            </a:r>
          </a:p>
          <a:p>
            <a:pPr>
              <a:defRPr sz="1400"/>
            </a:pPr>
            <a:r>
              <a:t>8% improvement vs. 2019 champion model (R² 0.48)</a:t>
            </a:r>
          </a:p>
          <a:p>
            <a:pPr>
              <a:defRPr sz="1400"/>
            </a:pPr>
            <a:r>
              <a:t>14 statistically significant predictors including 3 telematics variables</a:t>
            </a:r>
          </a:p>
          <a:p>
            <a:pPr>
              <a:defRPr sz="1400"/>
            </a:pPr>
            <a:r>
              <a:t>Aligns with new 15-territory rating structure (2023 update)</a:t>
            </a:r>
          </a:p>
          <a:p>
            <a:pPr>
              <a:defRPr sz="1400"/>
            </a:pPr>
            <a:r>
              <a:t>Recommendation: Approve for production deployment Q4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Collision coverage represents 35% of total written premium</a:t>
            </a:r>
          </a:p>
          <a:p>
            <a:pPr>
              <a:defRPr sz="1400"/>
            </a:pPr>
            <a:r>
              <a:t>Parts inflation +18% cumulative since 2019 (supply chain impacts)</a:t>
            </a:r>
          </a:p>
          <a:p>
            <a:pPr>
              <a:defRPr sz="1400"/>
            </a:pPr>
            <a:r>
              <a:t>Increasing adoption of telematics programs (25% of policyholders)</a:t>
            </a:r>
          </a:p>
          <a:p>
            <a:pPr>
              <a:defRPr sz="1400"/>
            </a:pPr>
            <a:r>
              <a:t>Opportunity to leverage behavioral driving data for improved pricing</a:t>
            </a:r>
          </a:p>
          <a:p>
            <a:pPr>
              <a:defRPr sz="1400"/>
            </a:pPr>
            <a:r>
              <a:t>Current model does not reflect ADAS technology impact on severity</a:t>
            </a:r>
          </a:p>
          <a:p>
            <a:pPr>
              <a:defRPr sz="1400"/>
            </a:pPr>
            <a:r>
              <a:t>Need to align with 2023 territory rerating (10 zones → 15 zones)</a:t>
            </a:r>
          </a:p>
          <a:p>
            <a:pPr>
              <a:defRPr sz="1400"/>
            </a:pPr>
            <a:r>
              <a:t>Objectives: Improve predictive accuracy, incorporate new data 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Environment &amp;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Primary: ClaimsVision system (2020-2023 collision claims)</a:t>
            </a:r>
          </a:p>
          <a:p>
            <a:pPr>
              <a:defRPr sz="1400"/>
            </a:pPr>
            <a:r>
              <a:t>NEW: Telematics data from DriveWise program (2021-2023)</a:t>
            </a:r>
          </a:p>
          <a:p>
            <a:pPr>
              <a:defRPr sz="1400"/>
            </a:pPr>
            <a:r>
              <a:t>Sample Size: 450,000 policies, 75,000 claims with severity data</a:t>
            </a:r>
          </a:p>
          <a:p>
            <a:pPr>
              <a:defRPr sz="1400"/>
            </a:pPr>
            <a:r>
              <a:t>Telematics Coverage: 112,500 policies (25% of total)</a:t>
            </a:r>
          </a:p>
          <a:p>
            <a:pPr>
              <a:defRPr sz="1400"/>
            </a:pPr>
            <a:r>
              <a:t>Geography: 15 states with updated territory definitions</a:t>
            </a:r>
          </a:p>
          <a:p>
            <a:pPr>
              <a:defRPr sz="1400"/>
            </a:pPr>
            <a:r>
              <a:t>Severity Range: $500 - $50,000 (excluded total losses &gt; $50K)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474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81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Source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Records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Time Period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Quality Score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ClaimsVision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2020-2023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99.2%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PolicyMaster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Policy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2020-2023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98.8%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DriveWise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Telematics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2021-2023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97.5%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VINtelligence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Vehicle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2020-2023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99.5%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CreditScore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2020-2023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 Severity 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645920"/>
          <a:ext cx="69494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Statistic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With Telematics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Without Telematics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Mean 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$4,050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Median Severity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$2,750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$2,550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$2,900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$2,280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$2,580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75th Percentile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$4,950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$4,520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$5,250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90th Percentile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$8,200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95th Percentile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$11,500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$10,800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$12,000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Max (capped)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$50,000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Note: Telematics participants show 13% lower average severity - reflects safer driving behavior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Candidate Variable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Vehicle Characteristics (8 variables):</a:t>
            </a:r>
          </a:p>
          <a:p>
            <a:pPr>
              <a:defRPr sz="1400"/>
            </a:pPr>
            <a:r>
              <a:t>  • Vehicle age, make, model, body type, MSRP, safety rating, ADAS features</a:t>
            </a:r>
          </a:p>
          <a:p>
            <a:pPr>
              <a:defRPr sz="1400"/>
            </a:pPr>
            <a:r>
              <a:t>Driver Demographics (5 variables):</a:t>
            </a:r>
          </a:p>
          <a:p>
            <a:pPr>
              <a:defRPr sz="1400"/>
            </a:pPr>
            <a:r>
              <a:t>  • Age, gender, marital status, years licensed, occupation</a:t>
            </a:r>
          </a:p>
          <a:p>
            <a:pPr>
              <a:defRPr sz="1400"/>
            </a:pPr>
            <a:r>
              <a:t>Geographic (2 variables):</a:t>
            </a:r>
          </a:p>
          <a:p>
            <a:pPr>
              <a:defRPr sz="1400"/>
            </a:pPr>
            <a:r>
              <a:t>  • Territory (15 zones), garaging ZIP code density</a:t>
            </a:r>
          </a:p>
          <a:p>
            <a:pPr>
              <a:defRPr sz="1400"/>
            </a:pPr>
            <a:r>
              <a:t>Coverage &amp; Policy (3 variables):</a:t>
            </a:r>
          </a:p>
          <a:p>
            <a:pPr>
              <a:defRPr sz="1400"/>
            </a:pPr>
            <a:r>
              <a:t>  • Deductible, coverage limits, policy tenure</a:t>
            </a:r>
          </a:p>
          <a:p>
            <a:pPr>
              <a:defRPr sz="1400"/>
            </a:pPr>
            <a:r>
              <a:t>NEW - Telematics Behavioral (5 variables):</a:t>
            </a:r>
          </a:p>
          <a:p>
            <a:pPr>
              <a:defRPr sz="1400"/>
            </a:pPr>
            <a:r>
              <a:t>  • Hard braking events, speeding instances, night driving %, mileage, trip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Telematics Variables: Behavioral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64592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Correlation with Severity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Hard Braking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Events per 100 miles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+0.28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Speeding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% miles &gt;10mph over limit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0%-45%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+0.31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Night Driving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 trips 10pm-5am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0%-60%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+0.18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Annual Mileage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Miles driven per year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1K-40K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11,200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+0.12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Trip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Trips per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5-150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+0.08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Hard braking and speeding show strongest correlation with claim severity</a:t>
            </a:r>
          </a:p>
          <a:p>
            <a:pPr>
              <a:defRPr sz="1400"/>
            </a:pPr>
            <a:r>
              <a:t>Night driving associated with higher severity (reduced visibility, fatigue)</a:t>
            </a:r>
          </a:p>
          <a:p>
            <a:pPr>
              <a:defRPr sz="1400"/>
            </a:pPr>
            <a:r>
              <a:t>Mileage has weak but positive correlation (exposure effect)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Model Variables (14 Predictors)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188720"/>
          <a:ext cx="8778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3352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Coefficient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Impact on Severity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Base: $3,350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Vehicle 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+2.8% per year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Vehicle MSRP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+0.045% per $100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ADAS Level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varies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-8% to -15%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Territory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-12% to +18%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Deductible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varies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-22% to base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Driver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-0.5% per year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Vehicle Body Type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varies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-5% to +12%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Hard Braking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+3.6% per event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Speeding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+0.8% per % point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Night Driving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+0.4% per % point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Safety Rating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varies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-3% to +5%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Males +4.3%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Policy Tenure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0.041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-0.012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-1.2% per year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Factor Analysis: Vehicle 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Age Band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Vehicles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Claims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Avg Severity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Index to Overall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Significance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0-2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3-5 years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15,600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$3,950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6-8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9-12 years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13,500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$3,420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13+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Newer vehicles have 26% higher severity (more expensive parts, advanced tech)</a:t>
            </a:r>
          </a:p>
          <a:p>
            <a:pPr>
              <a:defRPr sz="1400"/>
            </a:pPr>
            <a:r>
              <a:t>Older vehicles show lower severity (aftermarket parts, repair shop flexibility)</a:t>
            </a:r>
          </a:p>
          <a:p>
            <a:pPr>
              <a:defRPr sz="1400"/>
            </a:pPr>
            <a:r>
              <a:t>Strong monotonic relationship supports continuous variable usage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Factor Analysis: ADAS Features (NEW)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7680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ADAS Level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Vehicles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Claims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Avg Severity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ADAS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Basic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FCW, LDW only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23,250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$3,820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Advanced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AEB, ACC, BSM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38912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Advanced ADAS reduces severity by 16% vs. no features</a:t>
            </a:r>
          </a:p>
          <a:p>
            <a:pPr>
              <a:defRPr sz="1400"/>
            </a:pPr>
            <a:r>
              <a:t>Reflects collision avoidance technology effectiveness</a:t>
            </a:r>
          </a:p>
          <a:p>
            <a:pPr>
              <a:defRPr sz="1400"/>
            </a:pPr>
            <a:r>
              <a:t>Growing trend: 27% of fleet has ADAS, up from 15% in 2019</a:t>
            </a:r>
          </a:p>
          <a:p>
            <a:pPr>
              <a:defRPr sz="1400"/>
            </a:pPr>
            <a:r>
              <a:t>Important pricing signal for encouraging safety technology adoption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Factor Analysis: Hard Braking Events (Telematics)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8046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  <a:gridCol w="1341120"/>
                <a:gridCol w="1341120"/>
                <a:gridCol w="134112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Braking Events/100mi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Drivers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Claims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Avg Severity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0-1 (Low)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Safe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1.1-2 (Below Avg)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32,500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4,550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$3,520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Good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2.1-3 (Average)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Average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3.1-5 (Above Avg)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1,700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$4,420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Risky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5+ (High)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Very Risky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29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Clear severity gradient: High braking drivers show 36% higher severity</a:t>
            </a:r>
          </a:p>
          <a:p>
            <a:pPr>
              <a:defRPr sz="1400"/>
            </a:pPr>
            <a:r>
              <a:t>Reflects aggressive driving behavior leading to higher-speed collisions</a:t>
            </a:r>
          </a:p>
          <a:p>
            <a:pPr>
              <a:defRPr sz="1400"/>
            </a:pPr>
            <a:r>
              <a:t>Strong predictive value supports telematics program expansion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Model Type: GLM with Gamma distribution, log link function</a:t>
            </a:r>
          </a:p>
          <a:p>
            <a:pPr>
              <a:defRPr sz="1400"/>
            </a:pPr>
            <a:r>
              <a:t>Gamma distribution appropriate for continuous, positive severity values</a:t>
            </a:r>
          </a:p>
          <a:p>
            <a:pPr>
              <a:defRPr sz="1400"/>
            </a:pPr>
            <a:r>
              <a:t>Software: R glm() function with family=Gamma(link='log')</a:t>
            </a:r>
          </a:p>
          <a:p>
            <a:pPr>
              <a:defRPr sz="1400"/>
            </a:pPr>
            <a:r>
              <a:t>Data Split: 60% training / 20% validation / 20% test</a:t>
            </a:r>
          </a:p>
          <a:p>
            <a:pPr>
              <a:defRPr sz="1400"/>
            </a:pPr>
            <a:r>
              <a:t>Missing Data: Telematics missing for 75% of policies (not random)</a:t>
            </a:r>
          </a:p>
          <a:p>
            <a:pPr>
              <a:defRPr sz="1400"/>
            </a:pPr>
            <a:r>
              <a:t>  • Created separate 'No Telematics' category (not MCAR)</a:t>
            </a:r>
          </a:p>
          <a:p>
            <a:pPr>
              <a:defRPr sz="1400"/>
            </a:pPr>
            <a:r>
              <a:t>  • Allows model to use telematics when available, neutral otherwise</a:t>
            </a:r>
          </a:p>
          <a:p>
            <a:pPr>
              <a:defRPr sz="1400"/>
            </a:pPr>
            <a:r>
              <a:t>Outlier Treatment: Capped severity at $50K (excluded total losses)</a:t>
            </a:r>
          </a:p>
          <a:p>
            <a:pPr>
              <a:defRPr sz="1400"/>
            </a:pPr>
            <a:r>
              <a:t>Validation: Dispersion parameter validated (φ = 1.15, reasonable)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Comparison: 2019 Champion vs. 2024 Challenger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Champion (2019)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Challenger (2024)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Assessment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R-Squared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MAPE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26.8%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-2.5 pts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$2,620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Top Quintile R²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0.41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+17.1%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Deviance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285,420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AIC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892,150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878,920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-1.5%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#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More complex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Telematics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Innovation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Innovation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t>Territory Zones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Updated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Model Coefficients &amp; Interpretations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Coefficient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Exp(Coef)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 severity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Vehicle Age (per year)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1.028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+2.8% per year older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ADAS: Advanced vs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-15.2% lower severity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Hard Braking (per event)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0.035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1.036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+3.6% per event/100mi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Speeding Rate (per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+0.8% per percentage point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Deductible: $1000 vs $250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-0.248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-22.0% lower severity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Territory: Urban vs Rural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+20.3% higher severity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Vehicle MSRP ($10K)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1.046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+4.6% per $10K MSRP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Out-of-Sample Validation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Claims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Actual Avg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Predicted Avg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A/P Ratio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MAPE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With Telematics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3,750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$3,520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$3,545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Without Telematics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ADAS Advanced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2,400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$3,250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$3,280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ADAS 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 ADAS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7,950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$4,150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$4,180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25.7%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Deductible $250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Deductible $500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$3,750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$3,775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24.1%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Deductible $1000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Diagnostics &amp; Residual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Residual Distribution: Normal Q-Q plot shows good fit (slight heavy tails)</a:t>
            </a:r>
          </a:p>
          <a:p>
            <a:pPr>
              <a:defRPr sz="1400"/>
            </a:pPr>
            <a:r>
              <a:t>Homoscedasticity: Residuals vs. fitted shows constant variance</a:t>
            </a:r>
          </a:p>
          <a:p>
            <a:pPr>
              <a:defRPr sz="1400"/>
            </a:pPr>
            <a:r>
              <a:t>No systematic patterns in residuals by key segments</a:t>
            </a:r>
          </a:p>
          <a:p>
            <a:pPr>
              <a:defRPr sz="1400"/>
            </a:pPr>
            <a:r>
              <a:t>Dispersion Parameter φ = 1.15 (acceptable for Gamma GLM)</a:t>
            </a:r>
          </a:p>
          <a:p>
            <a:pPr>
              <a:defRPr sz="1400"/>
            </a:pPr>
            <a:r>
              <a:t>Cook's Distance: No influential outliers detected</a:t>
            </a:r>
          </a:p>
          <a:p>
            <a:pPr>
              <a:defRPr sz="1400"/>
            </a:pPr>
            <a:r>
              <a:t>VIF Analysis: All VIF &lt; 3.5 (multicollinearity not a concern)</a:t>
            </a:r>
          </a:p>
          <a:p>
            <a:pPr>
              <a:defRPr sz="1400"/>
            </a:pPr>
            <a:r>
              <a:t>Telematics variables show no correlation with non-telematics predictors</a:t>
            </a:r>
          </a:p>
          <a:p>
            <a:pPr>
              <a:defRPr sz="1400"/>
            </a:pPr>
            <a:r>
              <a:t>Model assumptions validated across all diagnostic tests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Q3 2024: Model approval and regulatory filing preparation</a:t>
            </a:r>
          </a:p>
          <a:p>
            <a:pPr>
              <a:defRPr sz="1400"/>
            </a:pPr>
            <a:r>
              <a:t>Q4 2024: Production deployment</a:t>
            </a:r>
          </a:p>
          <a:p>
            <a:pPr>
              <a:defRPr sz="1400"/>
            </a:pPr>
            <a:r>
              <a:t>  • October: System integration and testing</a:t>
            </a:r>
          </a:p>
          <a:p>
            <a:pPr>
              <a:defRPr sz="1400"/>
            </a:pPr>
            <a:r>
              <a:t>  • November: Parallel run with 2019 model</a:t>
            </a:r>
          </a:p>
          <a:p>
            <a:pPr>
              <a:defRPr sz="1400"/>
            </a:pPr>
            <a:r>
              <a:t>  • December: Production cutover</a:t>
            </a:r>
          </a:p>
          <a:p>
            <a:pPr>
              <a:defRPr sz="1400"/>
            </a:pPr>
            <a:r>
              <a:t>Telematics Integration:</a:t>
            </a:r>
          </a:p>
          <a:p>
            <a:pPr>
              <a:defRPr sz="1400"/>
            </a:pPr>
            <a:r>
              <a:t>  • DriveWise API real-time connection</a:t>
            </a:r>
          </a:p>
          <a:p>
            <a:pPr>
              <a:defRPr sz="1400"/>
            </a:pPr>
            <a:r>
              <a:t>  • Nightly batch updates for behavioral scores</a:t>
            </a:r>
          </a:p>
          <a:p>
            <a:pPr>
              <a:defRPr sz="1400"/>
            </a:pPr>
            <a:r>
              <a:t>  • Fallback logic when telematics unavailable</a:t>
            </a:r>
          </a:p>
          <a:p>
            <a:pPr>
              <a:defRPr sz="1400"/>
            </a:pPr>
            <a:r>
              <a:t>Monitoring Dashboard: Live tracking of A/P ratios by segment</a:t>
            </a:r>
          </a:p>
          <a:p>
            <a:pPr>
              <a:defRPr sz="1400"/>
            </a:pPr>
            <a:r>
              <a:t>Q1 2025: 90-day post-implementation review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Ongoing Monitoring &amp; Performance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Monthly KPIs:</a:t>
            </a:r>
          </a:p>
          <a:p>
            <a:pPr>
              <a:defRPr sz="1400"/>
            </a:pPr>
            <a:r>
              <a:t>  • Actual vs. Predicted severity by territory, vehicle age, ADAS level</a:t>
            </a:r>
          </a:p>
          <a:p>
            <a:pPr>
              <a:defRPr sz="1400"/>
            </a:pPr>
            <a:r>
              <a:t>  • Telematics data availability % (target: maintain 25%+)</a:t>
            </a:r>
          </a:p>
          <a:p>
            <a:pPr>
              <a:defRPr sz="1400"/>
            </a:pPr>
            <a:r>
              <a:t>  • Model drift indicators (PSI &lt; 0.25 threshold)</a:t>
            </a:r>
          </a:p>
          <a:p>
            <a:pPr>
              <a:defRPr sz="1400"/>
            </a:pPr>
            <a:r>
              <a:t>Quarterly Deep Dive:</a:t>
            </a:r>
          </a:p>
          <a:p>
            <a:pPr>
              <a:defRPr sz="1400"/>
            </a:pPr>
            <a:r>
              <a:t>  • Segmented A/P analysis (20+ segments)</a:t>
            </a:r>
          </a:p>
          <a:p>
            <a:pPr>
              <a:defRPr sz="1400"/>
            </a:pPr>
            <a:r>
              <a:t>  • New vs. renewal business comparison</a:t>
            </a:r>
          </a:p>
          <a:p>
            <a:pPr>
              <a:defRPr sz="1400"/>
            </a:pPr>
            <a:r>
              <a:t>  • Telematics participants vs. non-participants</a:t>
            </a:r>
          </a:p>
          <a:p>
            <a:pPr>
              <a:defRPr sz="1400"/>
            </a:pPr>
            <a:r>
              <a:t>Annual Refresh:</a:t>
            </a:r>
          </a:p>
          <a:p>
            <a:pPr>
              <a:defRPr sz="1400"/>
            </a:pPr>
            <a:r>
              <a:t>  • Full model recalibration with latest year data</a:t>
            </a:r>
          </a:p>
          <a:p>
            <a:pPr>
              <a:defRPr sz="1400"/>
            </a:pPr>
            <a:r>
              <a:t>  • Assess need for new variables or interactions</a:t>
            </a:r>
          </a:p>
          <a:p>
            <a:pPr>
              <a:defRPr sz="1400"/>
            </a:pPr>
            <a:r>
              <a:t>  • Regulatory validation and audit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Compliance &amp;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Regulatory Status: APPROVED by all 15 state insurance departments</a:t>
            </a:r>
          </a:p>
          <a:p>
            <a:pPr>
              <a:defRPr sz="1400"/>
            </a:pPr>
            <a:r>
              <a:t>  • Telematics usage approved in all jurisdictions</a:t>
            </a:r>
          </a:p>
          <a:p>
            <a:pPr>
              <a:defRPr sz="1400"/>
            </a:pPr>
            <a:r>
              <a:t>  • ADAS variables reviewed for correlation/causation</a:t>
            </a:r>
          </a:p>
          <a:p>
            <a:pPr>
              <a:defRPr sz="1400"/>
            </a:pPr>
            <a:r>
              <a:t>  • No unfair discrimination concerns identified</a:t>
            </a:r>
          </a:p>
          <a:p>
            <a:pPr>
              <a:defRPr sz="1400"/>
            </a:pPr>
            <a:r>
              <a:t>ASOP Compliance:</a:t>
            </a:r>
          </a:p>
          <a:p>
            <a:pPr>
              <a:defRPr sz="1400"/>
            </a:pPr>
            <a:r>
              <a:t>  • ASOP 12 (Risk Classification): Compliant - all variables actuarially justified</a:t>
            </a:r>
          </a:p>
          <a:p>
            <a:pPr>
              <a:defRPr sz="1400"/>
            </a:pPr>
            <a:r>
              <a:t>  • ASOP 23 (Data Quality): Compliant - telematics quality validated</a:t>
            </a:r>
          </a:p>
          <a:p>
            <a:pPr>
              <a:defRPr sz="1400"/>
            </a:pPr>
            <a:r>
              <a:t>  • ASOP 41 (Communications): Compliant - documentation complete</a:t>
            </a:r>
          </a:p>
          <a:p>
            <a:pPr>
              <a:defRPr sz="1400"/>
            </a:pPr>
            <a:r>
              <a:t>  • ASOP 56 (Modeling): Compliant - appropriate model selection</a:t>
            </a:r>
          </a:p>
          <a:p>
            <a:pPr>
              <a:defRPr sz="1400"/>
            </a:pPr>
            <a:r>
              <a:t>Model Risk Rating: MODERATE (due to telematics data dependency)</a:t>
            </a:r>
          </a:p>
          <a:p>
            <a:pPr>
              <a:defRPr sz="1400"/>
            </a:pPr>
            <a:r>
              <a:t>Mitigation: Robust fallback logic when telematics unavailable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&amp;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solidFill>
                  <a:srgbClr val="1F77B4"/>
                </a:solidFill>
              </a:defRPr>
            </a:pPr>
          </a:p>
          <a:p/>
          <a:p>
            <a:pPr>
              <a:defRPr sz="1600" b="1"/>
            </a:pPr>
            <a:r>
              <a:t>Approve Collision Severity Model for Q4 2024 production deployment</a:t>
            </a:r>
          </a:p>
          <a:p/>
          <a:p>
            <a:pPr>
              <a:defRPr sz="1400"/>
            </a:pPr>
            <a:r>
              <a:t>Model Performance: 8% improvement in R² vs. champion (+17% in top quintile)</a:t>
            </a:r>
          </a:p>
          <a:p>
            <a:pPr>
              <a:defRPr sz="1400"/>
            </a:pPr>
            <a:r>
              <a:t>Innovation: First model to leverage telematics behavioral data</a:t>
            </a:r>
          </a:p>
          <a:p>
            <a:pPr>
              <a:defRPr sz="1400"/>
            </a:pPr>
            <a:r>
              <a:t>Risk Segmentation: ADAS and telematics provide material differentiation</a:t>
            </a:r>
          </a:p>
          <a:p>
            <a:pPr>
              <a:defRPr sz="1400"/>
            </a:pPr>
            <a:r>
              <a:t>Validation: Excellent A/P ratios across all segments (0.99-1.00)</a:t>
            </a:r>
          </a:p>
          <a:p>
            <a:pPr>
              <a:defRPr sz="1400"/>
            </a:pPr>
            <a:r>
              <a:t>Regulatory: Full compliance, approved by all 15 states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Expected Impact:</a:t>
            </a:r>
          </a:p>
          <a:p>
            <a:pPr>
              <a:defRPr sz="1400"/>
            </a:pPr>
            <a:r>
              <a:t>  • Improved pricing accuracy → better loss ratios</a:t>
            </a:r>
          </a:p>
          <a:p>
            <a:pPr>
              <a:defRPr sz="1400"/>
            </a:pPr>
            <a:r>
              <a:t>  • Telematics adoption incentive → safer driving behaviors</a:t>
            </a:r>
          </a:p>
          <a:p>
            <a:pPr>
              <a:defRPr sz="1400"/>
            </a:pPr>
            <a:r>
              <a:t>  • Competitive advantage in ADAS-equipped vehicle 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