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Bodily Injury Frequency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GLM Poisson Regression Model</a:t>
            </a:r>
          </a:p>
          <a:p>
            <a:r>
              <a:t>2024 Model Development</a:t>
            </a:r>
          </a:p>
          <a:p>
            <a:r>
              <a:t>Presented to Model Risk Committee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Developed GLM Poisson model for Bodily Injury claim frequency prediction</a:t>
            </a:r>
          </a:p>
          <a:p>
            <a:pPr>
              <a:defRPr sz="1400"/>
            </a:pPr>
            <a:r>
              <a:t>12 statistically significant predictors selected (p &lt; 0.05)</a:t>
            </a:r>
          </a:p>
          <a:p>
            <a:pPr>
              <a:defRPr sz="1400"/>
            </a:pPr>
            <a:r>
              <a:t>Model Performance: AUC 0.72, Gini 0.44 on holdout test set</a:t>
            </a:r>
          </a:p>
          <a:p>
            <a:pPr>
              <a:defRPr sz="1400"/>
            </a:pPr>
            <a:r>
              <a:t>15% lift in top decile vs. random selection</a:t>
            </a:r>
          </a:p>
          <a:p>
            <a:pPr>
              <a:defRPr sz="1400"/>
            </a:pPr>
            <a:r>
              <a:t>Passes all regulatory requirements (NAIC Model Audit Rule, ASOPs)</a:t>
            </a:r>
          </a:p>
          <a:p>
            <a:pPr>
              <a:defRPr sz="1400"/>
            </a:pPr>
            <a:r>
              <a:t>Recommendation: Approve for production deployment Q3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Current model developed in 2019, performance degrading over time</a:t>
            </a:r>
          </a:p>
          <a:p>
            <a:pPr>
              <a:defRPr sz="1400"/>
            </a:pPr>
            <a:r>
              <a:t>Need to incorporate new risk factors (telematics, credit-based insurance scores)</a:t>
            </a:r>
          </a:p>
          <a:p>
            <a:pPr>
              <a:defRPr sz="1400"/>
            </a:pPr>
            <a:r>
              <a:t>Regulatory requirement for annual model validation and refresh</a:t>
            </a:r>
          </a:p>
          <a:p>
            <a:pPr>
              <a:defRPr sz="1400"/>
            </a:pPr>
            <a:r>
              <a:t>Objective: Improve risk segmentation by 10-15% vs. current champion</a:t>
            </a:r>
          </a:p>
          <a:p>
            <a:pPr>
              <a:defRPr sz="1400"/>
            </a:pPr>
            <a:r>
              <a:t>Support rate adequacy and competitiveness in key markets</a:t>
            </a:r>
          </a:p>
          <a:p>
            <a:pPr>
              <a:defRPr sz="1400"/>
            </a:pPr>
            <a:r>
              <a:t>Ensure compliance with evolving regulatory standards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Data Source: PolicyMaster system (2019-2023 experience period)</a:t>
            </a:r>
          </a:p>
          <a:p>
            <a:pPr>
              <a:defRPr sz="1400"/>
            </a:pPr>
            <a:r>
              <a:t>Sample Size: 500,000 policies, 50,000 claims</a:t>
            </a:r>
          </a:p>
          <a:p>
            <a:pPr>
              <a:defRPr sz="1400"/>
            </a:pPr>
            <a:r>
              <a:t>Geography: 15 states (Midwest and Southeast regions)</a:t>
            </a:r>
          </a:p>
          <a:p>
            <a:pPr>
              <a:defRPr sz="1400"/>
            </a:pPr>
            <a:r>
              <a:t>Coverage: Personal Auto Bodily Injury Liability</a:t>
            </a:r>
          </a:p>
          <a:p>
            <a:pPr>
              <a:defRPr sz="1400"/>
            </a:pPr>
            <a:r>
              <a:t>Data Quality: 98.5% complete, extensive validation performed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2004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10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Training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Policies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100,000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Claims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Claim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9.9%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Time Period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2019-2021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2023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Data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Descriptive Statistics - Continuous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Std Dev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Missing %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Driver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Vehicle 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Annual Miles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Years Licensed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Credit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Descriptive Statistics - Categorical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Percentage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Avg Frequency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Territory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Urban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Territory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Urban 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Territory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Suburban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Territory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Rural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Vehicle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Vehicle Type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Vehicle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 Selection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Started with 45 candidate variables from business knowledge</a:t>
            </a:r>
          </a:p>
          <a:p>
            <a:pPr>
              <a:defRPr sz="1400"/>
            </a:pPr>
            <a:r>
              <a:t>Applied correlation analysis to remove multicollinearity (VIF &lt; 5)</a:t>
            </a:r>
          </a:p>
          <a:p>
            <a:pPr>
              <a:defRPr sz="1400"/>
            </a:pPr>
            <a:r>
              <a:t>Used stepwise selection (AIC criterion) for initial model</a:t>
            </a:r>
          </a:p>
          <a:p>
            <a:pPr>
              <a:defRPr sz="1400"/>
            </a:pPr>
            <a:r>
              <a:t>Validated business intuition and actuarial judgment</a:t>
            </a:r>
          </a:p>
          <a:p>
            <a:pPr>
              <a:defRPr sz="1400"/>
            </a:pPr>
            <a:r>
              <a:t>Removed variables with p-value &gt; 0.05</a:t>
            </a:r>
          </a:p>
          <a:p>
            <a:pPr>
              <a:defRPr sz="1400"/>
            </a:pPr>
            <a:r>
              <a:t>Final model: 12 statistically significant predictors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Variable Set with Statistical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26571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Levels/Range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Coefficient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Std Error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Driver 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16-95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-0.012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0.002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Vehicle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Territory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 zones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varies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Prior Claims 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Prior Claims (2+)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Binary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0/1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0.852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Annual Miles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1K-50K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0.002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Vehicle Type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 types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varies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Coverage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0.012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Credit Score Band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Categorical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 bands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varies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Years Licensed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0-70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0.005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t>Gender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Binary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M/F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0.125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0.028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6577">
                <a:tc>
                  <a:txBody>
                    <a:bodyPr/>
                    <a:lstStyle/>
                    <a:p>
                      <a:r>
                        <a:t>Multi-Policy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Y/N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-0.185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 0.001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Factor Analysis: Driver 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Age Band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Policies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Claims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Relativity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Credibility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16-20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21-25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4,550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26-30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31-40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41-50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51-60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8,800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61-70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71+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2,750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Factor Analysis: Territory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7680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522514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Territory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Policies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Claims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Relativity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Zone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Urban - Downtown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1.42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Zone 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Urban - High Density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5,750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Zone 3-5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Suburban -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Zone 6-10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Suburban - Medium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13,800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Zone 11-12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Suburban -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0.85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t>Zone 13-15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Rural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7,800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 Factor Analysis: Prior Claims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828800"/>
          <a:ext cx="6949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40"/>
                <a:gridCol w="1158240"/>
                <a:gridCol w="1158240"/>
                <a:gridCol w="1158240"/>
                <a:gridCol w="1158240"/>
                <a:gridCol w="115824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Prior Claims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Policies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Claims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Frequency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Relativity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Statistical Sig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0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 claim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11,920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14.9%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1.66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 &lt; 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 &lt; 0.001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3+ claims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1,200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2.67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 &lt; 0.001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846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Strong persistence effect: Drivers with prior claims show 66-167% higher frequency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Development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Model Type: Generalized Linear Model (GLM) with Poisson distribution</a:t>
            </a:r>
          </a:p>
          <a:p>
            <a:pPr>
              <a:defRPr sz="1400"/>
            </a:pPr>
            <a:r>
              <a:t>Link Function: Log link for multiplicative effects</a:t>
            </a:r>
          </a:p>
          <a:p>
            <a:pPr>
              <a:defRPr sz="1400"/>
            </a:pPr>
            <a:r>
              <a:t>Software: R statistical package (glm function)</a:t>
            </a:r>
          </a:p>
          <a:p>
            <a:pPr>
              <a:defRPr sz="1400"/>
            </a:pPr>
            <a:r>
              <a:t>Training/Validation/Test Split: 60% / 20% / 20%</a:t>
            </a:r>
          </a:p>
          <a:p>
            <a:pPr>
              <a:defRPr sz="1400"/>
            </a:pPr>
            <a:r>
              <a:t>Cross-validation: 5-fold CV on training set for hyperparameter tuning</a:t>
            </a:r>
          </a:p>
          <a:p>
            <a:pPr>
              <a:defRPr sz="1400"/>
            </a:pPr>
            <a:r>
              <a:t>Assumptions validated: independence, linearity in log scale, equidispersion</a:t>
            </a:r>
          </a:p>
          <a:p>
            <a:pPr>
              <a:defRPr sz="1400"/>
            </a:pPr>
            <a:r>
              <a:t>Regularization: None (traditional GLM approach)</a:t>
            </a:r>
          </a:p>
          <a:p>
            <a:pPr>
              <a:defRPr sz="1400"/>
            </a:pPr>
            <a:r>
              <a:t>Missing data handling: Imputation with separate category for categoricals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Comparison: Champion vs. Challenger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Champion (2019)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Challenger (2024)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Gini Coefficient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0.36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0.44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+22.2%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Top Decile Lift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2.3x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Top Quintile Lift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1.6x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1.8x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+12.5%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Deviance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13,250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12,345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148,520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145,678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-1.9%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 Better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#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More complex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Interpretability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Equal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 Good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Coefficients (Selected Variables)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Coefficient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Exp(Coef)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-2.450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 frequency: 8.6%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Driver 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Per year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-0.012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0.988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1.2% decrease per year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Vehicle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Per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2.5% increase per year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Prior Claims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 claim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0.485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1.624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62.4% increase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Prior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2+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134.4% increase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Territory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Zone 1 vs 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0.585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1.795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79.5% increase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Credit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Poor vs 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53.0% increase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Multi-Policy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Yes vs 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-0.185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0.831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16.9% decrease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Out-of-Sample 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Policies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Actual Freq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Predicted Freq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A/E Ratio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Assessment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Excellent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Young Drivers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 Good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Middle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Excellent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Senior Drivers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1.03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 Good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Urban Territory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Good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Suburban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9.1%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0.98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✓ Excellent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✓ Good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/>
            </a:pPr>
            <a:r>
              <a:t>All A/E ratios within 95-105% range. Model demonstrates excellent predictive accuracy across all segments.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Lift Chart: Model Discrimination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32261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Decile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Policies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Claims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Actual Freq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Predicted Freq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Lift vs Random</a:t>
                      </a:r>
                    </a:p>
                  </a:txBody>
                  <a:tcPr>
                    <a:solidFill>
                      <a:srgbClr val="1F77B4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1 (Highest)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2.32x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1,750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1.77x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1.43x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1,180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1.19x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1.01x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8.6%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0.86x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0.73x</a:t>
                      </a:r>
                    </a:p>
                  </a:txBody>
                  <a:tcPr/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5.8%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5.9%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0.59x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0.45x</a:t>
                      </a:r>
                    </a:p>
                  </a:txBody>
                  <a:tcPr/>
                </a:tc>
              </a:tr>
              <a:tr h="432270">
                <a:tc>
                  <a:txBody>
                    <a:bodyPr/>
                    <a:lstStyle/>
                    <a:p>
                      <a:r>
                        <a:t>10 (Lowest)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10,000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3.3%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3.4%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0.33x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Model Approval: Model Risk Committee - June 2024</a:t>
            </a:r>
          </a:p>
          <a:p>
            <a:pPr>
              <a:defRPr sz="1400"/>
            </a:pPr>
            <a:r>
              <a:t>System Integration: IT implementation - July 2024</a:t>
            </a:r>
          </a:p>
          <a:p>
            <a:pPr>
              <a:defRPr sz="1400"/>
            </a:pPr>
            <a:r>
              <a:t>Parallel Testing: Shadow mode with current model - August 2024</a:t>
            </a:r>
          </a:p>
          <a:p>
            <a:pPr>
              <a:defRPr sz="1400"/>
            </a:pPr>
            <a:r>
              <a:t>Production Deployment: Q3 2024 (September 1)</a:t>
            </a:r>
          </a:p>
          <a:p>
            <a:pPr>
              <a:defRPr sz="1400"/>
            </a:pPr>
            <a:r>
              <a:t>Monitoring Setup: Real-time dashboards and alerts - August 2024</a:t>
            </a:r>
          </a:p>
          <a:p>
            <a:pPr>
              <a:defRPr sz="1400"/>
            </a:pPr>
            <a:r>
              <a:t>Training: Underwriter and actuarial staff training - August 2024</a:t>
            </a:r>
          </a:p>
          <a:p>
            <a:pPr>
              <a:defRPr sz="1400"/>
            </a:pPr>
            <a:r>
              <a:t>Documentation: Complete all regulatory documentation - July 2024</a:t>
            </a:r>
          </a:p>
          <a:p>
            <a:pPr>
              <a:defRPr sz="1400"/>
            </a:pPr>
            <a:r>
              <a:t>First Review: 90-day post-implementation review - December 2024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Ongoing Monitoring &amp; Model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Monthly Performance Monitoring:</a:t>
            </a:r>
          </a:p>
          <a:p>
            <a:pPr>
              <a:defRPr sz="1400"/>
            </a:pPr>
            <a:r>
              <a:t>  • Actual vs. Expected frequency by segment</a:t>
            </a:r>
          </a:p>
          <a:p>
            <a:pPr>
              <a:defRPr sz="1400"/>
            </a:pPr>
            <a:r>
              <a:t>  • Model stability metrics (PSI, CSI)</a:t>
            </a:r>
          </a:p>
          <a:p>
            <a:pPr>
              <a:defRPr sz="1400"/>
            </a:pPr>
            <a:r>
              <a:t>  • Data quality checks</a:t>
            </a:r>
          </a:p>
          <a:p>
            <a:pPr>
              <a:defRPr sz="1400"/>
            </a:pPr>
            <a:r>
              <a:t>Quarterly Model Review:</a:t>
            </a:r>
          </a:p>
          <a:p>
            <a:pPr>
              <a:defRPr sz="1400"/>
            </a:pPr>
            <a:r>
              <a:t>  • Detailed validation with recent data</a:t>
            </a:r>
          </a:p>
          <a:p>
            <a:pPr>
              <a:defRPr sz="1400"/>
            </a:pPr>
            <a:r>
              <a:t>  • Review of model assumptions</a:t>
            </a:r>
          </a:p>
          <a:p>
            <a:pPr>
              <a:defRPr sz="1400"/>
            </a:pPr>
            <a:r>
              <a:t>  • Assessment of model performance drift</a:t>
            </a:r>
          </a:p>
          <a:p>
            <a:pPr>
              <a:defRPr sz="1400"/>
            </a:pPr>
            <a:r>
              <a:t>Annual Model Refresh:</a:t>
            </a:r>
          </a:p>
          <a:p>
            <a:pPr>
              <a:defRPr sz="1400"/>
            </a:pPr>
            <a:r>
              <a:t>  • Full model recalibration with latest data</a:t>
            </a:r>
          </a:p>
          <a:p>
            <a:pPr>
              <a:defRPr sz="1400"/>
            </a:pPr>
            <a:r>
              <a:t>  • Regulatory compliance review</a:t>
            </a:r>
          </a:p>
          <a:p>
            <a:pPr>
              <a:defRPr sz="1400"/>
            </a:pPr>
            <a:r>
              <a:t>  • Model Risk Committee approval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Compliance Attestation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NAIC Model Audit Rule (MAR) Compliance:</a:t>
            </a:r>
          </a:p>
          <a:p>
            <a:pPr>
              <a:defRPr sz="1400"/>
            </a:pPr>
            <a:r>
              <a:t>  • Model governance framework documented</a:t>
            </a:r>
          </a:p>
          <a:p>
            <a:pPr>
              <a:defRPr sz="1400"/>
            </a:pPr>
            <a:r>
              <a:t>  • Independent validation completed</a:t>
            </a:r>
          </a:p>
          <a:p>
            <a:pPr>
              <a:defRPr sz="1400"/>
            </a:pPr>
            <a:r>
              <a:t>  • Ongoing monitoring procedures established</a:t>
            </a:r>
          </a:p>
          <a:p>
            <a:pPr>
              <a:defRPr sz="1400"/>
            </a:pPr>
            <a:r>
              <a:t>Actuarial Standards of Practice (ASOPs) Compliance:</a:t>
            </a:r>
          </a:p>
          <a:p>
            <a:pPr>
              <a:defRPr sz="1400"/>
            </a:pPr>
            <a:r>
              <a:t>  • ASOP 12: Risk Classification - Compliant</a:t>
            </a:r>
          </a:p>
          <a:p>
            <a:pPr>
              <a:defRPr sz="1400"/>
            </a:pPr>
            <a:r>
              <a:t>  • ASOP 23: Data Quality - Compliant</a:t>
            </a:r>
          </a:p>
          <a:p>
            <a:pPr>
              <a:defRPr sz="1400"/>
            </a:pPr>
            <a:r>
              <a:t>  • ASOP 41: Actuarial Communications - Compliant</a:t>
            </a:r>
          </a:p>
          <a:p>
            <a:pPr>
              <a:defRPr sz="1400"/>
            </a:pPr>
            <a:r>
              <a:t>  • ASOP 56: Modeling - Compliant</a:t>
            </a:r>
          </a:p>
          <a:p>
            <a:pPr>
              <a:defRPr sz="1400"/>
            </a:pPr>
            <a:r>
              <a:t>State Insurance Department Requirements: All 15 states reviewed and approved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solidFill>
                  <a:srgbClr val="1F77B4"/>
                </a:solidFill>
              </a:defRPr>
            </a:pPr>
          </a:p>
          <a:p/>
          <a:p>
            <a:pPr>
              <a:defRPr sz="1600" b="1"/>
            </a:pPr>
            <a:r>
              <a:t>Approve the Bodily Injury Frequency Model for production deployment</a:t>
            </a:r>
          </a:p>
          <a:p/>
          <a:p>
            <a:pPr>
              <a:defRPr sz="1400"/>
            </a:pPr>
            <a:r>
              <a:t>Model demonstrates superior performance vs. current champion (+22% Gini)</a:t>
            </a:r>
          </a:p>
          <a:p>
            <a:pPr>
              <a:defRPr sz="1400"/>
            </a:pPr>
            <a:r>
              <a:t>All validation tests passed with excellent results</a:t>
            </a:r>
          </a:p>
          <a:p>
            <a:pPr>
              <a:defRPr sz="1400"/>
            </a:pPr>
            <a:r>
              <a:t>Regulatory compliance verified across all requirements</a:t>
            </a:r>
          </a:p>
          <a:p>
            <a:pPr>
              <a:defRPr sz="1400"/>
            </a:pPr>
            <a:r>
              <a:t>Implementation plan is comprehensive and realistic</a:t>
            </a:r>
          </a:p>
          <a:p>
            <a:pPr>
              <a:defRPr sz="1400"/>
            </a:pPr>
            <a:r>
              <a:t>Monitoring framework will ensure ongoing model effectiveness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Risk: Low - Model is well-validated and follows industry best practices</a:t>
            </a:r>
          </a:p>
          <a:p>
            <a:pPr>
              <a:defRPr sz="1400"/>
            </a:pPr>
            <a:r>
              <a:t>Business Impact: High - Improved risk segmentation and rate adequacy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