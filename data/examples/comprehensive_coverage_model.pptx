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Coverage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XGBoost Machine Learning Model with SHAP Explainability</a:t>
            </a:r>
          </a:p>
          <a:p>
            <a:r>
              <a:t>2024 Model Development</a:t>
            </a:r>
          </a:p>
          <a:p>
            <a:r>
              <a:t>Presented to Model Risk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Developed XGBoost gradient boosting model for Comprehensive coverage</a:t>
            </a:r>
          </a:p>
          <a:p>
            <a:pPr>
              <a:defRPr sz="1400"/>
            </a:pPr>
            <a:r>
              <a:t>Dual prediction: Frequency (R² 0.58) and Severity (R² 0.44)</a:t>
            </a:r>
          </a:p>
          <a:p>
            <a:pPr>
              <a:defRPr sz="1400"/>
            </a:pPr>
            <a:r>
              <a:t>42 predictor variables with engineered features and interactions</a:t>
            </a:r>
          </a:p>
          <a:p>
            <a:pPr>
              <a:defRPr sz="1400"/>
            </a:pPr>
            <a:r>
              <a:t>38% improvement in frequency prediction vs. GLM benchmark (R² 0.42)</a:t>
            </a:r>
          </a:p>
          <a:p>
            <a:pPr>
              <a:defRPr sz="1400"/>
            </a:pPr>
            <a:r>
              <a:t>42% improvement in severity prediction vs. GLM benchmark (R² 0.31)</a:t>
            </a:r>
          </a:p>
          <a:p>
            <a:pPr>
              <a:defRPr sz="1400"/>
            </a:pPr>
            <a:r>
              <a:t>SHAP values provide model explainability for regulatory acceptance</a:t>
            </a:r>
          </a:p>
          <a:p>
            <a:pPr>
              <a:defRPr sz="1400"/>
            </a:pPr>
            <a:r>
              <a:t>Successfully addresses 'black box' concerns through transparency framework</a:t>
            </a:r>
          </a:p>
          <a:p>
            <a:pPr>
              <a:defRPr sz="1400"/>
            </a:pPr>
            <a:r>
              <a:t>Recommendation: Approve for production deployment Q1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Strategic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Comprehensive coverage: $2.1B annual premium, 28% of total book</a:t>
            </a:r>
          </a:p>
          <a:p>
            <a:pPr>
              <a:defRPr sz="1400"/>
            </a:pPr>
            <a:r>
              <a:t>Current GLM models underperforming in competitive markets</a:t>
            </a:r>
          </a:p>
          <a:p>
            <a:pPr>
              <a:defRPr sz="1400"/>
            </a:pPr>
            <a:r>
              <a:t>Theft trends changing rapidly (catalytic converter, keyless entry exploits)</a:t>
            </a:r>
          </a:p>
          <a:p>
            <a:pPr>
              <a:defRPr sz="1400"/>
            </a:pPr>
            <a:r>
              <a:t>Weather patterns becoming less predictable (climate change impact)</a:t>
            </a:r>
          </a:p>
          <a:p>
            <a:pPr>
              <a:defRPr sz="1400"/>
            </a:pPr>
            <a:r>
              <a:t>Opportunity to leverage machine learning for complex interaction effects</a:t>
            </a:r>
          </a:p>
          <a:p>
            <a:pPr>
              <a:defRPr sz="1400"/>
            </a:pPr>
            <a:r>
              <a:t>Regulatory environment increasingly accepting of ML with explainability</a:t>
            </a:r>
          </a:p>
          <a:p>
            <a:pPr>
              <a:defRPr sz="1400"/>
            </a:pPr>
            <a:r>
              <a:t>Objectives:</a:t>
            </a:r>
          </a:p>
          <a:p>
            <a:pPr>
              <a:defRPr sz="1400"/>
            </a:pPr>
            <a:r>
              <a:t>  • Improve risk segmentation by 30-40% vs. current models</a:t>
            </a:r>
          </a:p>
          <a:p>
            <a:pPr>
              <a:defRPr sz="1400"/>
            </a:pPr>
            <a:r>
              <a:t>  • Maintain full transparency and explainability</a:t>
            </a:r>
          </a:p>
          <a:p>
            <a:pPr>
              <a:defRPr sz="1400"/>
            </a:pPr>
            <a:r>
              <a:t>  • Address emerging theft and weather-related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Primary Claims Data: ClaimsVision (2019-2023)</a:t>
            </a:r>
          </a:p>
          <a:p>
            <a:pPr>
              <a:defRPr sz="1400"/>
            </a:pPr>
            <a:r>
              <a:t>Policy Data: PolicyMaster (2019-2023)</a:t>
            </a:r>
          </a:p>
          <a:p>
            <a:pPr>
              <a:defRPr sz="1400"/>
            </a:pPr>
            <a:r>
              <a:t>External Data Sources (NEW):</a:t>
            </a:r>
          </a:p>
          <a:p>
            <a:pPr>
              <a:defRPr sz="1400"/>
            </a:pPr>
            <a:r>
              <a:t>  • NICB Theft Database (vehicle theft risk scores by make/model/ZIP)</a:t>
            </a:r>
          </a:p>
          <a:p>
            <a:pPr>
              <a:defRPr sz="1400"/>
            </a:pPr>
            <a:r>
              <a:t>  • NOAA Weather (historical hail, wind, flood events by ZIP)</a:t>
            </a:r>
          </a:p>
          <a:p>
            <a:pPr>
              <a:defRPr sz="1400"/>
            </a:pPr>
            <a:r>
              <a:t>  • Garaging location: Secure vs. street parking (from underwriting)</a:t>
            </a:r>
          </a:p>
          <a:p>
            <a:pPr>
              <a:defRPr sz="1400"/>
            </a:pPr>
            <a:r>
              <a:t>Sample Size: 600,000 policies, 42,000 comprehensive claims</a:t>
            </a:r>
          </a:p>
          <a:p>
            <a:pPr>
              <a:defRPr sz="1400"/>
            </a:pPr>
            <a:r>
              <a:t>Time Period: 5 years (2019-2023)</a:t>
            </a:r>
          </a:p>
          <a:p>
            <a:pPr>
              <a:defRPr sz="1400"/>
            </a:pPr>
            <a:r>
              <a:t>Data Quality: 97.8% complete after quality checks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65760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Frequency Claims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21,600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Severity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Avg Frequency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Avg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$2,875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Time Period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2019-2021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for XGBoost vs. Traditional GLM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Complex Interaction Effects:</a:t>
            </a:r>
          </a:p>
          <a:p>
            <a:pPr>
              <a:defRPr sz="1400"/>
            </a:pPr>
            <a:r>
              <a:t>  • Weather + vehicle age + garaging type interactions</a:t>
            </a:r>
          </a:p>
          <a:p>
            <a:pPr>
              <a:defRPr sz="1400"/>
            </a:pPr>
            <a:r>
              <a:t>  • Theft risk varies non-linearly by ZIP + vehicle make + security features</a:t>
            </a:r>
          </a:p>
          <a:p>
            <a:pPr>
              <a:defRPr sz="1400"/>
            </a:pPr>
            <a:r>
              <a:t>  • Traditional GLM limited to 2-way interactions (model becomes unwieldy)</a:t>
            </a:r>
          </a:p>
          <a:p>
            <a:pPr>
              <a:defRPr sz="1400"/>
            </a:pPr>
            <a:r>
              <a:t>Non-Linear Relationships:</a:t>
            </a:r>
          </a:p>
          <a:p>
            <a:pPr>
              <a:defRPr sz="1400"/>
            </a:pPr>
            <a:r>
              <a:t>  • Hail damage threshold effects (size-dependent damage)</a:t>
            </a:r>
          </a:p>
          <a:p>
            <a:pPr>
              <a:defRPr sz="1400"/>
            </a:pPr>
            <a:r>
              <a:t>  • Theft risk curves (not linear with vehicle value)</a:t>
            </a:r>
          </a:p>
          <a:p>
            <a:pPr>
              <a:defRPr sz="1400"/>
            </a:pPr>
            <a:r>
              <a:t>Automatic Feature Engineering:</a:t>
            </a:r>
          </a:p>
          <a:p>
            <a:pPr>
              <a:defRPr sz="1400"/>
            </a:pPr>
            <a:r>
              <a:t>  • XGBoost discovers optimal splits and interactions</a:t>
            </a:r>
          </a:p>
          <a:p>
            <a:pPr>
              <a:defRPr sz="1400"/>
            </a:pPr>
            <a:r>
              <a:t>  • Reduces manual feature engineering burden</a:t>
            </a:r>
          </a:p>
          <a:p>
            <a:pPr>
              <a:defRPr sz="1400"/>
            </a:pPr>
            <a:r>
              <a:t>Superior Predictive Performance:</a:t>
            </a:r>
          </a:p>
          <a:p>
            <a:pPr>
              <a:defRPr sz="1400"/>
            </a:pPr>
            <a:r>
              <a:t>  • Demonstrated 38-42% improvement in pilot testing</a:t>
            </a:r>
          </a:p>
          <a:p>
            <a:pPr>
              <a:defRPr sz="1400"/>
            </a:pPr>
            <a:r>
              <a:t>Explainability via SHAP:</a:t>
            </a:r>
          </a:p>
          <a:p>
            <a:pPr>
              <a:defRPr sz="1400"/>
            </a:pPr>
            <a:r>
              <a:t>  • Addresses regulatory 'black box' concerns</a:t>
            </a:r>
          </a:p>
          <a:p>
            <a:pPr>
              <a:defRPr sz="1400"/>
            </a:pPr>
            <a:r>
              <a:t>  • Individual prediction explanations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Categories: 42 Total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# Variables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Make, model, year, value, theft rating,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VINtelligence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Driver/Policy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Age, gender, credit, tenure, deductible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PolicyMaster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Geographic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Territory, ZIP, urban/rural, garage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PolicyMaster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Weather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Hail freq, wind speed, flood zone, precip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NOAA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Theft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NICB score, local crime, vehicle theft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NICB + FBI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Engineered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Value*Theft, Weather*Age, Garage*Territory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Created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Mix of traditional actuarial variables + external data</a:t>
            </a:r>
          </a:p>
          <a:p>
            <a:pPr>
              <a:defRPr sz="1400"/>
            </a:pPr>
            <a:r>
              <a:t>Engineered features capture domain knowledge</a:t>
            </a:r>
          </a:p>
          <a:p>
            <a:pPr>
              <a:defRPr sz="1400"/>
            </a:pPr>
            <a:r>
              <a:t>All variables validated for actuarial soundness and non-discrimination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15 Variables by SHAP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88720"/>
          <a:ext cx="8778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32575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SHAP Mean |Value|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Predictive Focus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Vehicle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+ Severity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NICB Theft 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Frequency (Theft)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+ Severity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Hail Frequency (ZIP)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Frequency + 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+ Severity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Deductible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Garaging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(Theft)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Vehicle Make (Luxury)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Flood Zone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Vehicle Security Features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Frequency (Theft)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 Speed (Historical)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+ Severity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Urban Density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Frequency (Theft)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Vehicle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 Band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 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Pure Premium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&lt;$10K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$83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$10K-$20K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9,900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$2,350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$20K-$30K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$192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$30K-$50K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$3,850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$50K+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Strong relationship: Higher value → higher frequency AND severity</a:t>
            </a:r>
          </a:p>
          <a:p>
            <a:pPr>
              <a:defRPr sz="1400"/>
            </a:pPr>
            <a:r>
              <a:t>Pure premium increases 470% from lowest to highest band</a:t>
            </a:r>
          </a:p>
          <a:p>
            <a:pPr>
              <a:defRPr sz="1400"/>
            </a:pPr>
            <a:r>
              <a:t>Reflects both theft targeting (frequency) and repair costs (severity)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NICB Theft Risk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Theft Score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 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Low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3-4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7-8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7,650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NICB score is 2nd most important variable (SHAP importance)</a:t>
            </a:r>
          </a:p>
          <a:p>
            <a:pPr>
              <a:defRPr sz="1400"/>
            </a:pPr>
            <a:r>
              <a:t>3x frequency difference between very low and very high risk</a:t>
            </a:r>
          </a:p>
          <a:p>
            <a:pPr>
              <a:defRPr sz="1400"/>
            </a:pPr>
            <a:r>
              <a:t>Correlates with specific make/model theft targets (e.g., Honda Accord, Kia/Hyundai)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Hail Frequency by 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Hail Events/Year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ZIPs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Vehicles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 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$2,450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0.1-0.5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Low-Medium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10,800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0.6-1.5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$3,150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1.6-3.0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6,400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3.0+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$4,250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Hail is 4th most important predictor (SHAP importance)</a:t>
            </a:r>
          </a:p>
          <a:p>
            <a:pPr>
              <a:defRPr sz="1400"/>
            </a:pPr>
            <a:r>
              <a:t>Impacts both frequency (80% increase) and severity (73% increase)</a:t>
            </a:r>
          </a:p>
          <a:p>
            <a:pPr>
              <a:defRPr sz="1400"/>
            </a:pPr>
            <a:r>
              <a:t>Climate change increasing hail frequency and severity in certain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Model Architecture &amp; Hyperparameters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 Model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Severity Model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Selection Method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binary:logistic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reg:squarederror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Problem type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# Trees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Early stopping 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Max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Learning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Min Child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Subsample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Colsample (tree)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Gamma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Reg Alpha (L1)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Reg Lambda (L2)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Grid search CV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Hyperparameters selected via 5-fold cross-validation with early stopping to prevent overfitting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Model: XGBoost vs. GLM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GLM Champion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XGBoost Challenger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Significant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+11.8%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Significant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Top Decile Lift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2.8x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+33.3%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+0.6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Precision (Top 20%)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+26.4%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Log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XGBoost shows substantial improvement across all metrics, particularly in risk discrimination (Gini +44%)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Model: XGBoost vs. GLM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GLM Champion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XGBoost Challenger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Significant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$1,850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$1,620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-12.4%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-4.3 pts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t>Top Quintile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t>Median APE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-3.6 pts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42% improvement in R² demonstrates superior severity prediction</a:t>
            </a:r>
          </a:p>
          <a:p>
            <a:pPr>
              <a:defRPr sz="1400"/>
            </a:pPr>
            <a:r>
              <a:t>Particularly strong in high-value vehicles and hail-prone areas</a:t>
            </a:r>
          </a:p>
          <a:p>
            <a:pPr>
              <a:defRPr sz="1400"/>
            </a:pPr>
            <a:r>
              <a:t>Captures non-linear relationships (e.g., hail size thresholds)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Values: Model Explainability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SHAP (SHapley Additive exPlanations) provides global and local interpretability</a:t>
            </a:r>
          </a:p>
          <a:p>
            <a:pPr>
              <a:defRPr sz="1400"/>
            </a:pPr>
            <a:r>
              <a:t>Addresses regulatory 'black box' concern with ML models</a:t>
            </a:r>
          </a:p>
          <a:p>
            <a:pPr>
              <a:defRPr sz="1400"/>
            </a:pPr>
            <a:r>
              <a:t>Individual Prediction Explanation:</a:t>
            </a:r>
          </a:p>
          <a:p>
            <a:pPr>
              <a:defRPr sz="1400"/>
            </a:pPr>
            <a:r>
              <a:t>  • Every prediction shows contribution of each variable</a:t>
            </a:r>
          </a:p>
          <a:p>
            <a:pPr>
              <a:defRPr sz="1400"/>
            </a:pPr>
            <a:r>
              <a:t>  • Allows review of outlier predictions</a:t>
            </a:r>
          </a:p>
          <a:p>
            <a:pPr>
              <a:defRPr sz="1400"/>
            </a:pPr>
            <a:r>
              <a:t>  • Supports underwriting exceptions and pricing discussions</a:t>
            </a:r>
          </a:p>
          <a:p>
            <a:pPr>
              <a:defRPr sz="1400"/>
            </a:pPr>
            <a:r>
              <a:t>Global Feature Importance:</a:t>
            </a:r>
          </a:p>
          <a:p>
            <a:pPr>
              <a:defRPr sz="1400"/>
            </a:pPr>
            <a:r>
              <a:t>  • Identifies most influential variables across all predictions</a:t>
            </a:r>
          </a:p>
          <a:p>
            <a:pPr>
              <a:defRPr sz="1400"/>
            </a:pPr>
            <a:r>
              <a:t>  • Validates actuarial intuition (vehicle value, theft, weather most important)</a:t>
            </a:r>
          </a:p>
          <a:p>
            <a:pPr>
              <a:defRPr sz="1400"/>
            </a:pPr>
            <a:r>
              <a:t>Regulatory Acceptance:</a:t>
            </a:r>
          </a:p>
          <a:p>
            <a:pPr>
              <a:defRPr sz="1400"/>
            </a:pPr>
            <a:r>
              <a:t>  • Approved by 12 of 15 state regulators (3 pending)</a:t>
            </a:r>
          </a:p>
          <a:p>
            <a:pPr>
              <a:defRPr sz="1400"/>
            </a:pPr>
            <a:r>
              <a:t>  • SHAP documentation included in all rate filings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Explanation Example: High Frequency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Example Policy: 2021 Honda Accord, $28K value, Chicago ZIP (high theft), street parking, age 25 driver</a:t>
            </a:r>
          </a:p>
          <a:p>
            <a:pPr>
              <a:defRPr sz="1400"/>
            </a:pPr>
            <a:r>
              <a:t>Predicted Frequency: 11.5% (base rate: 6.0%, prediction +5.5 percentage points)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22860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SHAP Contribution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Explanation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Base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frequency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NICB Theft 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9/10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Honda Accord high theft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Territory (Chicago)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Zone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Urban high-density area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Garaging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secure garage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Vehicle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average 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+0.3%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Young driver factor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brand new (less theft)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Credit 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Good credit mitigates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Total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 of contributions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Out-of-Sample Validation: Test Set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A/P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RMSE Severity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$1,620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 Theft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 Theft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$1,420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 Hail Risk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$3,280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 Hail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$1,380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Luxury Vehicles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$4,850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Economy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$1,250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Urban 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$2,050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Rural 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$1,580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Prevention &amp; 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Early Stopping: Training stopped when validation error stops improving</a:t>
            </a:r>
          </a:p>
          <a:p>
            <a:pPr>
              <a:defRPr sz="1400"/>
            </a:pPr>
            <a:r>
              <a:t>Cross-Validation: 5-fold CV during hyperparameter tuning</a:t>
            </a:r>
          </a:p>
          <a:p>
            <a:pPr>
              <a:defRPr sz="1400"/>
            </a:pPr>
            <a:r>
              <a:t>Regularization: L1 (alpha) and L2 (lambda) penalties applied</a:t>
            </a:r>
          </a:p>
          <a:p>
            <a:pPr>
              <a:defRPr sz="1400"/>
            </a:pPr>
            <a:r>
              <a:t>Performance Comparison:</a:t>
            </a:r>
          </a:p>
          <a:p>
            <a:pPr>
              <a:defRPr sz="1400"/>
            </a:pPr>
            <a:r>
              <a:t>  • Training R²: 0.62 (frequency), 0.48 (severity)</a:t>
            </a:r>
          </a:p>
          <a:p>
            <a:pPr>
              <a:defRPr sz="1400"/>
            </a:pPr>
            <a:r>
              <a:t>  • Validation R²: 0.59 (frequency), 0.45 (severity)</a:t>
            </a:r>
          </a:p>
          <a:p>
            <a:pPr>
              <a:defRPr sz="1400"/>
            </a:pPr>
            <a:r>
              <a:t>  • Test R²: 0.58 (frequency), 0.44 (severity)</a:t>
            </a:r>
          </a:p>
          <a:p>
            <a:pPr>
              <a:defRPr sz="1400"/>
            </a:pPr>
            <a:r>
              <a:t>  • Minimal degradation from train → validation → test</a:t>
            </a:r>
          </a:p>
          <a:p>
            <a:pPr>
              <a:defRPr sz="1400"/>
            </a:pPr>
            <a:r>
              <a:t>Feature Importance Stability:</a:t>
            </a:r>
          </a:p>
          <a:p>
            <a:pPr>
              <a:defRPr sz="1400"/>
            </a:pPr>
            <a:r>
              <a:t>  • Top 10 variables consistent across all CV folds</a:t>
            </a:r>
          </a:p>
          <a:p>
            <a:pPr>
              <a:defRPr sz="1400"/>
            </a:pPr>
            <a:r>
              <a:t>  • SHAP values stable across bootstrap samples</a:t>
            </a:r>
          </a:p>
          <a:p>
            <a:pPr>
              <a:defRPr sz="1400"/>
            </a:pPr>
            <a:r>
              <a:t>Conclusion: No evidence of overfitting, model generalizes well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Q4 2024: Final Model Approval &amp; Regulatory Filings</a:t>
            </a:r>
          </a:p>
          <a:p>
            <a:pPr>
              <a:defRPr sz="1400"/>
            </a:pPr>
            <a:r>
              <a:t>  • Model Risk Committee approval (this presentation)</a:t>
            </a:r>
          </a:p>
          <a:p>
            <a:pPr>
              <a:defRPr sz="1400"/>
            </a:pPr>
            <a:r>
              <a:t>  • Submit rate filings to 15 states (3 already approved)</a:t>
            </a:r>
          </a:p>
          <a:p>
            <a:pPr>
              <a:defRPr sz="1400"/>
            </a:pPr>
            <a:r>
              <a:t>Q1 2025: System Implementation</a:t>
            </a:r>
          </a:p>
          <a:p>
            <a:pPr>
              <a:defRPr sz="1400"/>
            </a:pPr>
            <a:r>
              <a:t>  • Deploy XGBoost scoring engine to production environment</a:t>
            </a:r>
          </a:p>
          <a:p>
            <a:pPr>
              <a:defRPr sz="1400"/>
            </a:pPr>
            <a:r>
              <a:t>  • Real-time API for quote/bind process (&lt;500ms response time)</a:t>
            </a:r>
          </a:p>
          <a:p>
            <a:pPr>
              <a:defRPr sz="1400"/>
            </a:pPr>
            <a:r>
              <a:t>  • Batch processing for policy renewals</a:t>
            </a:r>
          </a:p>
          <a:p>
            <a:pPr>
              <a:defRPr sz="1400"/>
            </a:pPr>
            <a:r>
              <a:t>  • SHAP explanation generation for all policies</a:t>
            </a:r>
          </a:p>
          <a:p>
            <a:pPr>
              <a:defRPr sz="1400"/>
            </a:pPr>
            <a:r>
              <a:t>Q1 2025: Monitoring &amp; Validation</a:t>
            </a:r>
          </a:p>
          <a:p>
            <a:pPr>
              <a:defRPr sz="1400"/>
            </a:pPr>
            <a:r>
              <a:t>  • Shadow mode: Run alongside GLM for 30 days</a:t>
            </a:r>
          </a:p>
          <a:p>
            <a:pPr>
              <a:defRPr sz="1400"/>
            </a:pPr>
            <a:r>
              <a:t>  • A/B test: 10% of quotes use XGBoost pricing</a:t>
            </a:r>
          </a:p>
          <a:p>
            <a:pPr>
              <a:defRPr sz="1400"/>
            </a:pPr>
            <a:r>
              <a:t>Q2 2025: Full Production Rollout</a:t>
            </a:r>
          </a:p>
          <a:p>
            <a:pPr>
              <a:defRPr sz="1400"/>
            </a:pPr>
            <a:r>
              <a:t>  • 100% of new business and renewals</a:t>
            </a:r>
          </a:p>
          <a:p>
            <a:pPr>
              <a:defRPr sz="1400"/>
            </a:pPr>
            <a:r>
              <a:t>  • Monthly performance reviews for first 6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Risk Mitigation &amp; Ongoing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Model Risk Rating: MODERATE-HIGH (due to ML complexity)</a:t>
            </a:r>
          </a:p>
          <a:p>
            <a:pPr>
              <a:defRPr sz="1400"/>
            </a:pPr>
            <a:r>
              <a:t>Mitigation Strategies:</a:t>
            </a:r>
          </a:p>
          <a:p>
            <a:pPr>
              <a:defRPr sz="1400"/>
            </a:pPr>
            <a:r>
              <a:t>  • SHAP explanations for all predictions (transparency)</a:t>
            </a:r>
          </a:p>
          <a:p>
            <a:pPr>
              <a:defRPr sz="1400"/>
            </a:pPr>
            <a:r>
              <a:t>  • Champion-challenger A/B testing (GLM remains active backup)</a:t>
            </a:r>
          </a:p>
          <a:p>
            <a:pPr>
              <a:defRPr sz="1400"/>
            </a:pPr>
            <a:r>
              <a:t>  • Prediction bounds: Flag predictions &gt;3 std dev for manual review</a:t>
            </a:r>
          </a:p>
          <a:p>
            <a:pPr>
              <a:defRPr sz="1400"/>
            </a:pPr>
            <a:r>
              <a:t>  • Monthly model monitoring: PSI, feature drift, performance metrics</a:t>
            </a:r>
          </a:p>
          <a:p>
            <a:pPr>
              <a:defRPr sz="1400"/>
            </a:pPr>
            <a:r>
              <a:t>  • Independent validation: External actuarial firm review completed</a:t>
            </a:r>
          </a:p>
          <a:p>
            <a:pPr>
              <a:defRPr sz="1400"/>
            </a:pPr>
            <a:r>
              <a:t>Governance Framework:</a:t>
            </a:r>
          </a:p>
          <a:p>
            <a:pPr>
              <a:defRPr sz="1400"/>
            </a:pPr>
            <a:r>
              <a:t>  • Quarterly Model Risk Committee review</a:t>
            </a:r>
          </a:p>
          <a:p>
            <a:pPr>
              <a:defRPr sz="1400"/>
            </a:pPr>
            <a:r>
              <a:t>  • Annual full revalidation and recalibration</a:t>
            </a:r>
          </a:p>
          <a:p>
            <a:pPr>
              <a:defRPr sz="1400"/>
            </a:pPr>
            <a:r>
              <a:t>  • Feature importance monitoring (alert if top 5 variables change &gt;20%)</a:t>
            </a:r>
          </a:p>
          <a:p>
            <a:pPr>
              <a:defRPr sz="1400"/>
            </a:pPr>
            <a:r>
              <a:t>  • Explainability audit: Random sample of 100 policies/month reviewed</a:t>
            </a:r>
          </a:p>
          <a:p>
            <a:pPr>
              <a:defRPr sz="1400"/>
            </a:pPr>
            <a:r>
              <a:t>Regulatory Engagement:</a:t>
            </a:r>
          </a:p>
          <a:p>
            <a:pPr>
              <a:defRPr sz="1400"/>
            </a:pPr>
            <a:r>
              <a:t>  • Ongoing dialogue with 3 pending state regulators</a:t>
            </a:r>
          </a:p>
          <a:p>
            <a:pPr>
              <a:defRPr sz="1400"/>
            </a:pPr>
            <a:r>
              <a:t>  • Annual presentation to regulators with model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Strategic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1F77B4"/>
                </a:solidFill>
              </a:defRPr>
            </a:pPr>
          </a:p>
          <a:p/>
          <a:p>
            <a:pPr>
              <a:defRPr sz="1600" b="1"/>
            </a:pPr>
            <a:r>
              <a:t>Approve XGBoost Comprehensive Coverage Model for Q1 2025 deployment</a:t>
            </a:r>
          </a:p>
          <a:p/>
          <a:p>
            <a:pPr>
              <a:defRPr sz="1400"/>
            </a:pPr>
            <a:r>
              <a:t>Exceptional Performance: 38-42% improvement vs. GLM benchmark</a:t>
            </a:r>
          </a:p>
          <a:p>
            <a:pPr>
              <a:defRPr sz="1400"/>
            </a:pPr>
            <a:r>
              <a:t>Regulatory Compliance: SHAP explainability addresses transparency concerns</a:t>
            </a:r>
          </a:p>
          <a:p>
            <a:pPr>
              <a:defRPr sz="1400"/>
            </a:pPr>
            <a:r>
              <a:t>Risk Management: Comprehensive monitoring and governance framework</a:t>
            </a:r>
          </a:p>
          <a:p>
            <a:pPr>
              <a:defRPr sz="1400"/>
            </a:pPr>
            <a:r>
              <a:t>Validation: Excellent test set performance across all segments</a:t>
            </a:r>
          </a:p>
          <a:p>
            <a:pPr>
              <a:defRPr sz="1400"/>
            </a:pPr>
            <a:r>
              <a:t>Competitive Advantage: First-mover in ML for comprehensive coverage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Expected Business Impact:</a:t>
            </a:r>
          </a:p>
          <a:p>
            <a:pPr>
              <a:defRPr sz="1400"/>
            </a:pPr>
            <a:r>
              <a:t>  • Improved loss ratios: 3-5 points (better risk selection)</a:t>
            </a:r>
          </a:p>
          <a:p>
            <a:pPr>
              <a:defRPr sz="1400"/>
            </a:pPr>
            <a:r>
              <a:t>  • Premium growth: Better pricing in high-theft, high-weather-risk markets</a:t>
            </a:r>
          </a:p>
          <a:p>
            <a:pPr>
              <a:defRPr sz="1400"/>
            </a:pPr>
            <a:r>
              <a:t>  • Market differentiation: ML sophistication attracts tech-savvy customers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Strategic Value: Establishes ML capabilities for future product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